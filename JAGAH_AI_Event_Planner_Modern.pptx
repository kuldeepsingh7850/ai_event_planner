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89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33525" y="-1371600"/>
            <a:ext cx="3118485" cy="3017520"/>
          </a:xfrm>
          <a:prstGeom prst="ellipse">
            <a:avLst/>
          </a:prstGeom>
          <a:solidFill>
            <a:srgbClr val="E0F2F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10050" y="4114800"/>
            <a:ext cx="4572000" cy="4572000"/>
          </a:xfrm>
          <a:prstGeom prst="ellipse">
            <a:avLst/>
          </a:prstGeom>
          <a:solidFill>
            <a:srgbClr val="E0E7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MAJOR PROJECT PRESENTATION 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intelligent web application for event coordination, budget tracking, and custom recommendations powered by LLM Orchestration.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4114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Mangal Singh Chouhan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Major Project Submission (BCA)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" y="3904488"/>
            <a:ext cx="41148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472184"/>
            <a:ext cx="34564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Introduction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Project Objectives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43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System Functionalities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46304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472184"/>
            <a:ext cx="34564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Technology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Software Requirements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8437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Hardware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46304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55864" y="1472184"/>
            <a:ext cx="34564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WORKFLOWS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Database Design (MySQL)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 &amp; Admin Workflows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" y="3941064"/>
            <a:ext cx="34564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SNAPSHOTS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Desktop Homepage &amp; Entry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965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Dashboard &amp; Event Details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312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AI Recommendations &amp; Admin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6601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Mobile Responsive Design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97680" y="393192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06824" y="3941064"/>
            <a:ext cx="34564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48056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80560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Conclusion &amp; Achievements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0560" y="4965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Future Scope &amp; Roadmap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80560" y="5312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Q&amp;A Session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754880" cy="4572000"/>
          </a:xfrm>
          <a:prstGeom prst="roundRect">
            <a:avLst>
              <a:gd name="adj" fmla="val 8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is an AI-orchestrated event management application designed to centralize event planning and offer intelligent automation while maintaining database high availability.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0" y="1463040"/>
            <a:ext cx="56692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78424" y="1554480"/>
            <a:ext cx="73152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Management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Consolidates RSVP tracking, guest lists, task checklists, vendors, and expenses in one single real-time portal.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3017520"/>
            <a:ext cx="56692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78424" y="3108960"/>
            <a:ext cx="73152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Multi-LLM Suggestion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3474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Integrates Google Gemini, Groq, and Grok APIs to generate customized themes, menus, and timelines instantly.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4572000"/>
            <a:ext cx="566928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78424" y="4663440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Resilient Dual-Mode Storage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50292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a fallback SQL emulator that dynamically activates when MySQL is offline, enabling zero-config execution.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459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6733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CRUD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full management of guest RSVPs, budgets, schedules, checklist deadlines, and vendor directories in a single database.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6459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6733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Suggestions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194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 advanced LLM models (Gemini, Groq, Grok) to auto-generate personalized themes, menus, vendor types, and timelines.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6459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15400" y="16733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AI Chat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219456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a contextual chat assistant in the frontend that answers queries and updates planning components interactively.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11480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4142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&amp; OAuth 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user accounts using stateless JSON Web Tokens (JWT), bcrypt password hashing, and Google OAuth 2.0 logins.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93192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411480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4142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Mock Fallback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80560" y="4663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 active database driver fallback that mimics SQL queries in memory, allowing instant local developer setup.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931920"/>
            <a:ext cx="3474720" cy="21945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411480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41422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 Controls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46634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admins with a comprehensive panel to monitor platform stats, toggle user status, alter roles, and audit events.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457200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472184"/>
            <a:ext cx="2587752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STYLING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103120"/>
            <a:ext cx="2331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40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(React)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47802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SPA architecture with Pages Router.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71246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Utility-first modern layout, variables, dark/light toggle.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47091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94690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Promise-based HTTP client for calling backend endpoints.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37560" y="1463040"/>
            <a:ext cx="2606040" cy="457200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46704" y="1472184"/>
            <a:ext cx="2587752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2103120"/>
            <a:ext cx="2331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240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Runtime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47802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Asynchronous, event-driven JavaScript environment.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Framework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71246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Minimalist server, router, and middleware controller.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0" y="47091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&amp; dotenv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494690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Cross-origin resource sharing and environment management.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1463040"/>
            <a:ext cx="2606040" cy="457200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1472184"/>
            <a:ext cx="2587752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103120"/>
            <a:ext cx="2331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240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 Database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47802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relational storage with transactional support.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SQL Mock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71246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database simulation, no system config required.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47091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InnoDB Engine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94690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strict ACID properties and foreign key safety.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915400" y="1463040"/>
            <a:ext cx="2606040" cy="457200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924544" y="1472184"/>
            <a:ext cx="258775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&amp; AUTH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52560" y="2103120"/>
            <a:ext cx="23317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22402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Orchestration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247802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Google Gemini, Groq, and Grok APIs.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52560" y="347472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52560" y="371246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token-based logins stored locally on client.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052560" y="47091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bcryptjs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52560" y="494690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High-entropy salt hashing for storing secure passwords.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Functionalities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472184"/>
            <a:ext cx="52852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CAPABILITIES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&amp; Google OAuth Signup / Authentication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724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Planning Dashboard for managing multiple 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2552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guest RSVP tracking (Going / Pending / Not Going)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785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Expense ledger logs with automatic budget recalculation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315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checklists with priority levels and deadline reminders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4846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On-demand AI recommendations for themes, menus, and venues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76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5376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Contextual chatbot assistant for planning guidance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1472184"/>
            <a:ext cx="528523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ADMINISTRATION PORTAL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Control Panel for checking application health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724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 audits &amp; real-time activity tracking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2552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/ Unblock moderation controls for user credentials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785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7856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 alteration (elevating users to administrators)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4315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event supervision and metadata statistics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846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4846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database row deletion and record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4747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737360"/>
            <a:ext cx="54864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10/11, macOS Big Sur+, or Linux (Ubuntu 20.04 LTS+)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4747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06824" y="1737360"/>
            <a:ext cx="54864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Environment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331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(v18.0.0+ LTS recommended) and NPM (v9.0.0+)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4747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55864" y="1737360"/>
            <a:ext cx="54864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7824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2331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Community Server 8.0+ or MariaDB 10.5+ equivalent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" y="4023360"/>
            <a:ext cx="54864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 &amp; Editors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617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 with ESLint and Prettier formatting plugins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931920"/>
            <a:ext cx="34747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06824" y="4023360"/>
            <a:ext cx="54864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🧪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Testing Suite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80560" y="4617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Postman Desktop Client or VS Code Thunder Client extension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3931920"/>
            <a:ext cx="347472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55864" y="4023360"/>
            <a:ext cx="54864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7824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Browsers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46177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100+, Firefox 98+, or Edge (modern Chromium rendering)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Requirements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472184"/>
            <a:ext cx="528523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WORKSTATION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4323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Core i5 / AMD Ryzen 5 or higher (minimum 4 physical cores)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(RAM)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3467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GB DDR4 RAM (16 GB recommended for concurrent docker/ide execution)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42611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GB of available SSD storage space for node_modules and DB instances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51755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network adapter for localhost binding and API orchestration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472184"/>
            <a:ext cx="52852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CLOUD SERVER (VPS)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4323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Virtual CPU (vCPU) on standard cloud architectures (AWS EC2, DigitalOcean)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(RAM)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3467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GB RAM (2 GB recommended if hosting MySQL locally on the instance)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0233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42611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GB Solid State Drive (SSD) for operating system files and backups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937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51755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High-speed broadband network interface with a static public IPv4 address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Design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45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RELATIONAL TABLES (MYSQL)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01168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20116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51460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2316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251460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01752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301752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2316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3017520"/>
            <a:ext cx="146304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2336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749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RELATIONSHIPS &amp; CONSTRAINTS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➔ Events (1 : N relation via user_id)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44074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407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➔ Budget (1 : 1 relation via event_id)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7914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7914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➔ Guests, Expenses, Tasks, Vendors (1 : 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51755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51755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Referential Integrity: ON DELETE CASCADE constraints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" y="55595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" y="5559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Normalization: Structured up to 3NF for zero redundancy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27064" y="1472184"/>
            <a:ext cx="528523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792224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159105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73952" y="15910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92824" y="15910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1527048"/>
            <a:ext cx="42062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15270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https://jagah-event-planner.local/entity-relationship-er-diagram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355080" y="1938528"/>
            <a:ext cx="5029200" cy="3959352"/>
          </a:xfrm>
          <a:prstGeom prst="roundRect">
            <a:avLst>
              <a:gd name="adj" fmla="val 69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653796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3796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'Entity Relationship (ER) Diagram' Desktop screenshot here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18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2B11C02-F2B6-4BB7-9697-FBAA8E06ACB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205" y="1435608"/>
            <a:ext cx="5416296" cy="459943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51" name="Shape 7">
            <a:extLst>
              <a:ext uri="{FF2B5EF4-FFF2-40B4-BE49-F238E27FC236}">
                <a16:creationId xmlns:a16="http://schemas.microsoft.com/office/drawing/2014/main" id="{A2D9D98B-E5FD-47A8-8891-F5322A942973}"/>
              </a:ext>
            </a:extLst>
          </p:cNvPr>
          <p:cNvSpPr/>
          <p:nvPr/>
        </p:nvSpPr>
        <p:spPr>
          <a:xfrm>
            <a:off x="548640" y="1314450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9D74DBB7-F6FD-482D-9659-D5B4F510AED7}"/>
              </a:ext>
            </a:extLst>
          </p:cNvPr>
          <p:cNvSpPr/>
          <p:nvPr/>
        </p:nvSpPr>
        <p:spPr>
          <a:xfrm>
            <a:off x="6268593" y="1307592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Workflows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472184"/>
            <a:ext cx="528523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92224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9105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910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" y="15910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527048"/>
            <a:ext cx="42062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5270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https://jagah-event-planner.local/user-flow-diagram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85800" y="1938528"/>
            <a:ext cx="5029200" cy="3959352"/>
          </a:xfrm>
          <a:prstGeom prst="roundRect">
            <a:avLst>
              <a:gd name="adj" fmla="val 69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6868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'User Flow Diagram' Desktop screenshot here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52400" dist="508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472184"/>
            <a:ext cx="528523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92224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59105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15910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2824" y="15910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527048"/>
            <a:ext cx="42062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527048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https://jagah-event-planner.local/admin-moderation-flow-diagram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355080" y="1938528"/>
            <a:ext cx="5029200" cy="3959352"/>
          </a:xfrm>
          <a:prstGeom prst="roundRect">
            <a:avLst>
              <a:gd name="adj" fmla="val 69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53796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'Admin Moderation Flow Diagram' Desktop screenshot here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18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2A1F565-E8C6-472D-BC8E-F893AB6B9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9" y="1361930"/>
            <a:ext cx="5734339" cy="4673110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95CA3C2-7467-4129-88A1-3C8625E5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9" y="1358092"/>
            <a:ext cx="5852161" cy="4676948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9" name="Shape 7">
            <a:extLst>
              <a:ext uri="{FF2B5EF4-FFF2-40B4-BE49-F238E27FC236}">
                <a16:creationId xmlns:a16="http://schemas.microsoft.com/office/drawing/2014/main" id="{D05DFF09-0FB3-4EA9-9758-7545EE90CD6A}"/>
              </a:ext>
            </a:extLst>
          </p:cNvPr>
          <p:cNvSpPr/>
          <p:nvPr/>
        </p:nvSpPr>
        <p:spPr>
          <a:xfrm>
            <a:off x="3063240" y="1138428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— Homepage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7552" y="15910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" y="15910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1527048"/>
            <a:ext cx="914400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1527048"/>
            <a:ext cx="896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https://jagah-event-planner.local/desktop-homepage-features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51560" y="35524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91820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'Desktop Homepage &amp; Features' Desktop screenshot 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18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849E7D-BCE0-41DA-8247-675114BE0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29" y="1399078"/>
            <a:ext cx="11355622" cy="5111543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25" name="Shape 7">
            <a:extLst>
              <a:ext uri="{FF2B5EF4-FFF2-40B4-BE49-F238E27FC236}">
                <a16:creationId xmlns:a16="http://schemas.microsoft.com/office/drawing/2014/main" id="{D652C096-8858-468F-B24D-39B8427A3086}"/>
              </a:ext>
            </a:extLst>
          </p:cNvPr>
          <p:cNvSpPr/>
          <p:nvPr/>
        </p:nvSpPr>
        <p:spPr>
          <a:xfrm>
            <a:off x="3444240" y="1188720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— Login &amp; Registration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'Secure User Login Page' Desktop screenshot here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'New Account Registration Page' Desktop screenshot here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516022B-9BDD-4E83-A081-08EB2558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05" y="2297534"/>
            <a:ext cx="5700795" cy="3150919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044BB46-6024-42A4-BDE7-7AAE82FD1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26" y="2297533"/>
            <a:ext cx="5669474" cy="3150919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5" name="Shape 7">
            <a:extLst>
              <a:ext uri="{FF2B5EF4-FFF2-40B4-BE49-F238E27FC236}">
                <a16:creationId xmlns:a16="http://schemas.microsoft.com/office/drawing/2014/main" id="{8ECEBD6D-7551-490F-8AD4-46DAC9F30853}"/>
              </a:ext>
            </a:extLst>
          </p:cNvPr>
          <p:cNvSpPr/>
          <p:nvPr/>
        </p:nvSpPr>
        <p:spPr>
          <a:xfrm>
            <a:off x="6385042" y="2113168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5A10871A-D67C-4402-BF5A-E62185FF40EA}"/>
              </a:ext>
            </a:extLst>
          </p:cNvPr>
          <p:cNvSpPr/>
          <p:nvPr/>
        </p:nvSpPr>
        <p:spPr>
          <a:xfrm>
            <a:off x="585216" y="2094079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— Dashboard &amp; Events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'User Dashboard with Stats &amp; Checklists' Desktop screenshot here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'Detailed Event View (Guests&amp; Budget)' Desktop screenshot here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FF0B149-4707-4F8F-ABE2-248AA82CB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9" y="2017643"/>
            <a:ext cx="5677231" cy="3359427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84AB8B4-33DB-4C6F-A665-580A51AE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20923"/>
            <a:ext cx="5995302" cy="3223161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2" name="Shape 7">
            <a:extLst>
              <a:ext uri="{FF2B5EF4-FFF2-40B4-BE49-F238E27FC236}">
                <a16:creationId xmlns:a16="http://schemas.microsoft.com/office/drawing/2014/main" id="{BB3B3DC5-654D-4AFA-ACCF-74BF9873ED25}"/>
              </a:ext>
            </a:extLst>
          </p:cNvPr>
          <p:cNvSpPr/>
          <p:nvPr/>
        </p:nvSpPr>
        <p:spPr>
          <a:xfrm>
            <a:off x="544664" y="1764692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5B3BC0AD-CB79-430F-82CE-3D35E05935CD}"/>
              </a:ext>
            </a:extLst>
          </p:cNvPr>
          <p:cNvSpPr/>
          <p:nvPr/>
        </p:nvSpPr>
        <p:spPr>
          <a:xfrm>
            <a:off x="6339840" y="1750976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— AI Recommendations &amp; Profile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18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CB78D00-BCBF-45A0-8C2E-F21705FAD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535" y="1305409"/>
            <a:ext cx="10038929" cy="2795675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7D3AD01-8921-4BD5-BC25-22BB130DD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411" y="4313573"/>
            <a:ext cx="5922858" cy="2411243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BB933B-BF95-4CDC-B2C4-924CB0D8C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269" y="4309596"/>
            <a:ext cx="3719195" cy="2411244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3" name="Shape 7">
            <a:extLst>
              <a:ext uri="{FF2B5EF4-FFF2-40B4-BE49-F238E27FC236}">
                <a16:creationId xmlns:a16="http://schemas.microsoft.com/office/drawing/2014/main" id="{1D248A70-21FC-48E4-9C47-FFB9CC1C12B1}"/>
              </a:ext>
            </a:extLst>
          </p:cNvPr>
          <p:cNvSpPr/>
          <p:nvPr/>
        </p:nvSpPr>
        <p:spPr>
          <a:xfrm>
            <a:off x="2880360" y="1212165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— Admin Moderation Panel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8701" y="1792224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5244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[ Screen Snapshot Placeholder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182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'Admin Control Panel &amp; System Metrics' Desktop screenshot here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792224"/>
            <a:ext cx="53035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76DD00E-C451-4CE5-ABE0-28F5F0CD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21" y="1938528"/>
            <a:ext cx="5508460" cy="3511296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99F6B-D83F-4537-ABE6-A596CD57E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867" y="1945982"/>
            <a:ext cx="5981106" cy="3470148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— Mobile Responsive Views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3108960" cy="4754880"/>
          </a:xfrm>
          <a:prstGeom prst="roundRect">
            <a:avLst>
              <a:gd name="adj" fmla="val 176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90500" dist="635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481328"/>
            <a:ext cx="731520" cy="109728"/>
          </a:xfrm>
          <a:prstGeom prst="roundRect">
            <a:avLst>
              <a:gd name="adj" fmla="val 416667"/>
            </a:avLst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1408" y="1691640"/>
            <a:ext cx="2889504" cy="4160520"/>
          </a:xfrm>
          <a:prstGeom prst="roundRect">
            <a:avLst>
              <a:gd name="adj" fmla="val 6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108960" y="5989320"/>
            <a:ext cx="914400" cy="36576"/>
          </a:xfrm>
          <a:prstGeom prst="roundRect">
            <a:avLst>
              <a:gd name="adj" fmla="val 1250000"/>
            </a:avLst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3314700"/>
            <a:ext cx="2706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Mobile Screenshot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377190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Mobile Home &amp; Navigation View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0" y="1481328"/>
            <a:ext cx="731520" cy="109728"/>
          </a:xfrm>
          <a:prstGeom prst="roundRect">
            <a:avLst>
              <a:gd name="adj" fmla="val 416667"/>
            </a:avLst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5989320"/>
            <a:ext cx="914400" cy="36576"/>
          </a:xfrm>
          <a:prstGeom prst="roundRect">
            <a:avLst>
              <a:gd name="adj" fmla="val 1250000"/>
            </a:avLst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3771900"/>
            <a:ext cx="2706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Mobile Dashboard &amp; Planner View 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18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D63CA6-FD81-4F39-A92A-7739B475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506" y="1371601"/>
            <a:ext cx="3242080" cy="5102352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5B370FA-5BFE-41A0-9203-52235C32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370010"/>
            <a:ext cx="3108960" cy="5029199"/>
          </a:xfrm>
          <a:prstGeom prst="rect">
            <a:avLst/>
          </a:prstGeom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E0F2FE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E0E7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548640"/>
          </a:xfrm>
          <a:prstGeom prst="roundRect">
            <a:avLst>
              <a:gd name="adj" fmla="val 625000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0" y="457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JAGAH — AI EVENT PLANNER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" y="1472184"/>
            <a:ext cx="52852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a fully-functional full-stack web application using Next.js, Node.js, Express.js, and MySQL.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9443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implemented multi-model AI Orchestration calling Gemini, Groq, and Grok APIs.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694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69417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a resilient active-fallback SQL mock driver for zero-config database execution during testing.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443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444398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Achieved clean JWT credentials authorization with Google OAuth 2.0 single sign-on integration.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193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application reliability through comprehensive testing of authentication, database, and API logic.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303520" cy="4572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7064" y="1472184"/>
            <a:ext cx="528523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1945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integration (Stripe / Razorpay) for direct vendor booking and ticket purchases.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9443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9443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digital invitation dispatch via Email, SMS, and WhatsApp using Twilio API suite.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3694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69417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cooperative planning workspaces using WebSockets for concurrent editing by co-hosts.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4443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44398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Localized vendor marketplace module with reviews, ratings, portfolios, and direct quote messaging.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5193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51937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mobile application development utilizing the React Native core framework.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E0F2F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5486400" cy="5486400"/>
          </a:xfrm>
          <a:prstGeom prst="ellipse">
            <a:avLst/>
          </a:prstGeom>
          <a:solidFill>
            <a:srgbClr val="E0E7FF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097280"/>
            <a:ext cx="8531352" cy="438912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16200000" algn="bl" rotWithShape="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37944" y="1106424"/>
            <a:ext cx="851306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82880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Session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22876" y="3383280"/>
            <a:ext cx="27432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65760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JAGAH — AI Event Planner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4114800"/>
            <a:ext cx="7616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Name: Mangal Sharma  •  Major Project Submission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1506</TotalTime>
  <Words>1494</Words>
  <Application>Microsoft Office PowerPoint</Application>
  <PresentationFormat>Widescreen</PresentationFormat>
  <Paragraphs>289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</cp:lastModifiedBy>
  <cp:revision>15</cp:revision>
  <dcterms:created xsi:type="dcterms:W3CDTF">2026-06-19T06:26:50Z</dcterms:created>
  <dcterms:modified xsi:type="dcterms:W3CDTF">2026-06-20T08:07:55Z</dcterms:modified>
</cp:coreProperties>
</file>